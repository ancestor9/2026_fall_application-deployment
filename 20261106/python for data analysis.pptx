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6" r:id="rId2"/>
    <p:sldId id="1140" r:id="rId3"/>
    <p:sldId id="1141" r:id="rId4"/>
    <p:sldId id="1138" r:id="rId5"/>
    <p:sldId id="1142" r:id="rId6"/>
    <p:sldId id="1139" r:id="rId7"/>
    <p:sldId id="1143" r:id="rId8"/>
    <p:sldId id="1144" r:id="rId9"/>
    <p:sldId id="1145" r:id="rId10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40"/>
            <p14:sldId id="1141"/>
            <p14:sldId id="1138"/>
            <p14:sldId id="1142"/>
            <p14:sldId id="1139"/>
            <p14:sldId id="1143"/>
            <p14:sldId id="1144"/>
            <p14:sldId id="1145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D24726"/>
    <a:srgbClr val="FF9B45"/>
    <a:srgbClr val="DD462F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62" autoAdjust="0"/>
    <p:restoredTop sz="94297" autoAdjust="0"/>
  </p:normalViewPr>
  <p:slideViewPr>
    <p:cSldViewPr snapToGrid="0">
      <p:cViewPr varScale="1">
        <p:scale>
          <a:sx n="68" d="100"/>
          <a:sy n="68" d="100"/>
        </p:scale>
        <p:origin x="1050" y="5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796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2026-10-30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2026-10-30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381E2-081A-B081-1C4D-9B4B6D8A0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C0B75D-AD04-9082-95CD-C95F074380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2BCF51-0A69-5006-7888-A2FC857E7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F3D3C5-64BD-F8A6-4A01-A55E0CBD11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1207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D747C-0A5D-8643-4880-36099C0F4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E7435D-D7E4-7442-6103-F7DC1AF682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D39512-5763-07D3-ABBB-221B614950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5D97B4-92FF-2A0A-1347-A5650C7B7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277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2026-10-30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10/30/2026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2026-10-30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Pandas</a:t>
            </a:r>
            <a:r>
              <a:rPr lang="ko-KR" altLang="en-US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4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Excercise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A596C-7EAE-DB34-A3A8-4764A6BD7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6D7985-2224-08E9-8B8B-3DC943A09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2</a:t>
            </a:fld>
            <a:endParaRPr lang="en-US" sz="1400" b="1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8D93FA9-A725-4A18-C839-1D2200F32B2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Python for Data Analysis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026" name="Picture 2" descr="Python for Data Analysis - 교보문고">
            <a:extLst>
              <a:ext uri="{FF2B5EF4-FFF2-40B4-BE49-F238E27FC236}">
                <a16:creationId xmlns:a16="http://schemas.microsoft.com/office/drawing/2014/main" id="{6669BBD4-A2E5-ACA1-6FF4-8616ECA54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875" y="1654631"/>
            <a:ext cx="3590407" cy="4721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6238E67B-F46C-1E69-C418-EF7E3AD6D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4172" y="1407708"/>
            <a:ext cx="5848350" cy="48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13. Data </a:t>
            </a:r>
            <a:r>
              <a:rPr kumimoji="0" lang="ko-KR" altLang="ko-K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Analysis</a:t>
            </a: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Examples</a:t>
            </a: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13.1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Bitly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Data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1.USA.gov 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Counting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Time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Zones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Pure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Counting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Time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Zones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with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pandas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13.2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MovieLens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1M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Dataset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Measuring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Rating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Disagreement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13.3 US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Baby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Names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1880–2010 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Analyzing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Naming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Trends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13.4 USDA Food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Database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13.5 2012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Federal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Election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Commission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Database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Donation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Statistics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by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Occupation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Employer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Bucketing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Donation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Amounts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Donation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Statistics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by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State </a:t>
            </a:r>
          </a:p>
        </p:txBody>
      </p:sp>
    </p:spTree>
    <p:extLst>
      <p:ext uri="{BB962C8B-B14F-4D97-AF65-F5344CB8AC3E}">
        <p14:creationId xmlns:p14="http://schemas.microsoft.com/office/powerpoint/2010/main" val="2553576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6CEE4-91ED-CF0A-292E-1D2E52313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838EB3-0C91-004A-D7AC-F1362EA86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864501"/>
          </a:xfrm>
        </p:spPr>
        <p:txBody>
          <a:bodyPr rtlCol="0" anchor="ctr" anchorCtr="0">
            <a:normAutofit/>
          </a:bodyPr>
          <a:lstStyle/>
          <a:p>
            <a:r>
              <a:rPr lang="ko-KR" altLang="ko-KR" sz="4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Bitly</a:t>
            </a:r>
            <a:r>
              <a:rPr lang="ko-KR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Data </a:t>
            </a:r>
            <a:r>
              <a:rPr lang="ko-KR" altLang="ko-KR" sz="4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from</a:t>
            </a:r>
            <a:r>
              <a:rPr lang="ko-KR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1.USA.gov 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6607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667BA-883A-F760-A852-480894981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25E88B-6D21-127E-3DF6-DC200AC37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4</a:t>
            </a:fld>
            <a:endParaRPr lang="en-US" sz="1400" b="1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0151A18-B816-E6A4-DE0E-617FB6906B4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USA.gov </a:t>
            </a:r>
            <a:r>
              <a:rPr lang="ko-KR" altLang="en-US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사용자가 </a:t>
            </a:r>
            <a:r>
              <a:rPr lang="en-US" altLang="ko-KR" sz="20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Bitly</a:t>
            </a:r>
            <a:r>
              <a:rPr lang="ko-KR" altLang="en-US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로 단축 </a:t>
            </a:r>
            <a:r>
              <a:rPr lang="en-US" altLang="ko-KR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URL</a:t>
            </a:r>
            <a:r>
              <a:rPr lang="ko-KR" altLang="en-US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을 클릭한 로그</a:t>
            </a:r>
            <a:r>
              <a:rPr lang="en-US" altLang="ko-KR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(JSON Lines)</a:t>
            </a:r>
            <a:r>
              <a:rPr lang="ko-KR" altLang="en-US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를 분석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BD6F3C-926F-3C11-628A-797D8E17DD9B}"/>
              </a:ext>
            </a:extLst>
          </p:cNvPr>
          <p:cNvSpPr txBox="1"/>
          <p:nvPr/>
        </p:nvSpPr>
        <p:spPr>
          <a:xfrm>
            <a:off x="643170" y="1529601"/>
            <a:ext cx="10872555" cy="3798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URL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단축 서비스인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Bitly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통해 미국 정부 웹사이트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(1.usa.gov)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접속한 사용자들의 웹 클릭 트래픽 로그 데이터셋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데이터의 주요 항목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컬럼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(User Agent):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접속한 사용자 기기의 웹 브라우저 및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OS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정보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Chrome, Safari, Windows, Mac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tz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Timezone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접속 위치의 시간대 정보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America/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New_York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America/Denver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등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c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(Country):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접속 국가 코드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US, BR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등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cy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/ </a:t>
            </a:r>
            <a:r>
              <a:rPr lang="en-US" altLang="ko-KR" sz="14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(City / Location):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접속 지역 도시 이름 및 위도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경도 좌표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u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(Target URL):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단축 링크를 통해 최종 도달하는 목적지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웹주소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r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(Referrer):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해당 링크를 클릭하기 직전에 머물렀던 이전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웹주소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Facebook, Twitter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t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/ </a:t>
            </a:r>
            <a:r>
              <a:rPr lang="en-US" altLang="ko-KR" sz="14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hc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(Timestamp):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클릭이 발생한 시각 및 단축 링크가 생성된 시각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(Unix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타임스탬프 형식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8986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EE206-13F5-EEE8-057B-D15E3BEEA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E26B88-D3B0-9A0E-84E0-AB03F8A45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5</a:t>
            </a:fld>
            <a:endParaRPr lang="en-US" sz="1400" b="1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32726E6-EED4-9068-B2B4-D3EEBE459BB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USA.gov </a:t>
            </a:r>
            <a:r>
              <a:rPr lang="ko-KR" altLang="en-US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사용자가 </a:t>
            </a:r>
            <a:r>
              <a:rPr lang="en-US" altLang="ko-KR" sz="20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Bitly</a:t>
            </a:r>
            <a:r>
              <a:rPr lang="ko-KR" altLang="en-US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로 단축 </a:t>
            </a:r>
            <a:r>
              <a:rPr lang="en-US" altLang="ko-KR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URL</a:t>
            </a:r>
            <a:r>
              <a:rPr lang="ko-KR" altLang="en-US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을 클릭한 로그</a:t>
            </a:r>
            <a:r>
              <a:rPr lang="en-US" altLang="ko-KR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(JSON Lines)</a:t>
            </a:r>
            <a:r>
              <a:rPr lang="ko-KR" altLang="en-US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를 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02CA77-C519-F597-41DA-74AC6766A492}"/>
              </a:ext>
            </a:extLst>
          </p:cNvPr>
          <p:cNvSpPr txBox="1"/>
          <p:nvPr/>
        </p:nvSpPr>
        <p:spPr>
          <a:xfrm>
            <a:off x="630750" y="1248422"/>
            <a:ext cx="10930499" cy="5225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buNone/>
            </a:pP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1. 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데이터 불러오기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pd.read_json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lines=True):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한 줄에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JSON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객체 하나인 파일을 바로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DataFrame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으로 읽거나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URL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직접 일기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pd.DataFrame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(records):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json.loads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파싱한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딕셔너리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리스트를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DataFrame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으로 변환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lnSpc>
                <a:spcPct val="150000"/>
              </a:lnSpc>
              <a:buNone/>
            </a:pP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2. 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데이터 탐색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frame.info():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컬럼별 타입과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결측치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수를 확인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frame.head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(), frame["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tz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"].head():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상위 행을 확인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lnSpc>
                <a:spcPct val="150000"/>
              </a:lnSpc>
              <a:buNone/>
            </a:pP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3. 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빈도 집계와 </a:t>
            </a:r>
            <a:r>
              <a:rPr lang="ko-KR" altLang="en-US" sz="16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결측치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 처리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value_counts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시간대별 빈도와 직접 만든 함수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get_counts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top_counts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collections.Counter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pandas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방식과 비교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fillna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("Missing"):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결측값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NaN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대체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불리언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인덱싱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clean_tz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clean_tz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== ""] = "Unknown":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조건에 맞는 값만 골라 변경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dropna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notna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():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결측치를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제거하거나 필터링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2104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185A0-0A0E-D505-2AE8-39CD82CFC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CE4AC0-FEEB-BB0D-CD9A-6E55042C4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6</a:t>
            </a:fld>
            <a:endParaRPr lang="en-US" sz="1400" b="1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A3B98D8-CAC4-51D9-D15E-4503C9EE8B9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USA.gov </a:t>
            </a:r>
            <a:r>
              <a:rPr lang="ko-KR" altLang="en-US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사용자가 </a:t>
            </a:r>
            <a:r>
              <a:rPr lang="en-US" altLang="ko-KR" sz="20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Bitly</a:t>
            </a:r>
            <a:r>
              <a:rPr lang="ko-KR" altLang="en-US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로 단축 </a:t>
            </a:r>
            <a:r>
              <a:rPr lang="en-US" altLang="ko-KR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URL</a:t>
            </a:r>
            <a:r>
              <a:rPr lang="ko-KR" altLang="en-US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을 클릭한 로그</a:t>
            </a:r>
            <a:r>
              <a:rPr lang="en-US" altLang="ko-KR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(JSON Lines)</a:t>
            </a:r>
            <a:r>
              <a:rPr lang="ko-KR" altLang="en-US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를 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9E28AC-E589-A29C-CE64-D2EC11FEE268}"/>
              </a:ext>
            </a:extLst>
          </p:cNvPr>
          <p:cNvSpPr txBox="1"/>
          <p:nvPr/>
        </p:nvSpPr>
        <p:spPr>
          <a:xfrm>
            <a:off x="630750" y="1248422"/>
            <a:ext cx="10930499" cy="373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buNone/>
            </a:pPr>
            <a:r>
              <a:rPr lang="en-US" altLang="ko-KR" sz="16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4. </a:t>
            </a:r>
            <a:r>
              <a:rPr lang="ko-KR" altLang="en-US" sz="16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문자열 처리와 조건부 컬럼 생성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str.contains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("Windows"): </a:t>
            </a:r>
            <a:r>
              <a:rPr lang="ko-KR" altLang="en-US" sz="16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벡터화된</a:t>
            </a:r>
            <a:r>
              <a:rPr lang="ko-KR" altLang="en-US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문자열 메서드로 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User-Agent </a:t>
            </a:r>
            <a:r>
              <a:rPr lang="ko-KR" altLang="en-US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문자열에서 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OS</a:t>
            </a:r>
            <a:r>
              <a:rPr lang="ko-KR" altLang="en-US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판별</a:t>
            </a:r>
            <a:endParaRPr lang="en-US" altLang="ko-KR" sz="1600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np.where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조건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값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1, </a:t>
            </a:r>
            <a:r>
              <a:rPr lang="ko-KR" altLang="en-US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값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2): </a:t>
            </a:r>
            <a:r>
              <a:rPr lang="ko-KR" altLang="en-US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조건에 따라 새 컬럼 값을 생성</a:t>
            </a:r>
            <a:endParaRPr lang="en-US" altLang="ko-KR" sz="1600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.copy(): </a:t>
            </a:r>
            <a:r>
              <a:rPr lang="ko-KR" altLang="en-US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슬라이스에서 만든 </a:t>
            </a:r>
            <a:r>
              <a:rPr lang="en-US" altLang="ko-KR" sz="16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DataFrame</a:t>
            </a:r>
            <a:r>
              <a:rPr lang="ko-KR" altLang="en-US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을 복사</a:t>
            </a:r>
            <a:endParaRPr lang="en-US" altLang="ko-KR" sz="1600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600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lnSpc>
                <a:spcPct val="150000"/>
              </a:lnSpc>
              <a:buNone/>
            </a:pPr>
            <a:r>
              <a:rPr lang="en-US" altLang="ko-KR" sz="16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5. </a:t>
            </a:r>
            <a:r>
              <a:rPr lang="ko-KR" altLang="en-US" sz="16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그룹 연산 </a:t>
            </a:r>
            <a:r>
              <a:rPr lang="en-US" altLang="ko-KR" sz="16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핵심</a:t>
            </a:r>
            <a:r>
              <a:rPr lang="en-US" altLang="ko-KR" sz="16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groupby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(["</a:t>
            </a:r>
            <a:r>
              <a:rPr lang="en-US" altLang="ko-KR" sz="16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tz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lang="en-US" altLang="ko-KR" sz="16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os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"]): </a:t>
            </a:r>
            <a:r>
              <a:rPr lang="ko-KR" altLang="en-US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다중 키로 그룹을 생성하여 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.size().unstack().</a:t>
            </a:r>
            <a:r>
              <a:rPr lang="en-US" altLang="ko-KR" sz="16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fillna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(0): </a:t>
            </a:r>
            <a:r>
              <a:rPr lang="ko-KR" altLang="en-US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그룹별 건수를 피벗 형태로 변경</a:t>
            </a:r>
            <a:endParaRPr lang="en-US" altLang="ko-KR" sz="1600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argsort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(), take(): </a:t>
            </a:r>
            <a:r>
              <a:rPr lang="ko-KR" altLang="en-US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정렬 인덱스를 구해 상위 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ko-KR" altLang="en-US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개를 추출하거나 </a:t>
            </a:r>
            <a:r>
              <a:rPr lang="en-US" altLang="ko-KR" sz="16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nlargest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(10): </a:t>
            </a:r>
            <a:r>
              <a:rPr lang="ko-KR" altLang="en-US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같은 일을 더 간단하게 처리</a:t>
            </a:r>
            <a:endParaRPr lang="en-US" altLang="ko-KR" sz="1600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.stack(), .</a:t>
            </a:r>
            <a:r>
              <a:rPr lang="en-US" altLang="ko-KR" sz="16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reset_index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(): wide </a:t>
            </a:r>
            <a:r>
              <a:rPr lang="ko-KR" altLang="en-US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형태와 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ko-KR" altLang="en-US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형태</a:t>
            </a:r>
            <a:endParaRPr lang="en-US" altLang="ko-KR" sz="1600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groupby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().apply(</a:t>
            </a:r>
            <a:r>
              <a:rPr lang="ko-KR" altLang="en-US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sz="16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groupby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()["col"].transform("sum"): </a:t>
            </a:r>
            <a:r>
              <a:rPr lang="ko-KR" altLang="en-US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그룹별 비율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정규화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을 계산</a:t>
            </a:r>
            <a:endParaRPr lang="en-US" altLang="ko-KR" sz="1600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9243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BB507-468A-295A-12A6-5B08A52AD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E2E0F1-8D69-1A68-0099-286E8B950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864501"/>
          </a:xfrm>
        </p:spPr>
        <p:txBody>
          <a:bodyPr rtlCol="0" anchor="ctr" anchorCtr="0">
            <a:normAutofit/>
          </a:bodyPr>
          <a:lstStyle/>
          <a:p>
            <a:r>
              <a:rPr lang="ko-KR" altLang="ko-KR" sz="4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MovieLens</a:t>
            </a:r>
            <a:r>
              <a:rPr lang="ko-KR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1M </a:t>
            </a:r>
            <a:r>
              <a:rPr lang="ko-KR" altLang="ko-KR" sz="4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Dataset</a:t>
            </a:r>
            <a:r>
              <a:rPr lang="ko-KR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712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C4ED4-CE43-438D-4D40-12E69AC3B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6E76BA-DAF4-FCB7-6322-7BB3ABF6C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8</a:t>
            </a:fld>
            <a:endParaRPr lang="en-US" sz="1400" b="1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C5A5ABE-FFDE-5093-DE8F-9B9F73E400F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MovieLens 1M </a:t>
            </a:r>
            <a:r>
              <a:rPr lang="ko-KR" altLang="en-US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데이터셋</a:t>
            </a:r>
            <a:r>
              <a:rPr lang="en-US" altLang="ko-KR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(</a:t>
            </a:r>
            <a:r>
              <a:rPr lang="ko-KR" altLang="en-US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영화 평점</a:t>
            </a:r>
            <a:r>
              <a:rPr lang="en-US" altLang="ko-KR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r>
              <a:rPr lang="ko-KR" altLang="en-US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을</a:t>
            </a:r>
            <a:r>
              <a:rPr lang="en-US" altLang="ko-KR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merge()</a:t>
            </a:r>
            <a:r>
              <a:rPr lang="ko-KR" altLang="en-US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분석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CB5AF4-87D0-D858-53EC-DE774A444DFE}"/>
              </a:ext>
            </a:extLst>
          </p:cNvPr>
          <p:cNvSpPr txBox="1"/>
          <p:nvPr/>
        </p:nvSpPr>
        <p:spPr>
          <a:xfrm>
            <a:off x="643170" y="1529601"/>
            <a:ext cx="10872555" cy="4275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MovieLens 1M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데이터셋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영화 평점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pandas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합치고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집계하고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비교해 보고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평점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영화 등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 파일을 하나로 합친 뒤 성별 평점 차이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평점 분산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장르별 평점을 분석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 로드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users.dat, ratings.dat, movies.dat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pd.read_csv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="::", engine="python")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읽기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 파악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summarize_dataframe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함수로 컬럼별 타입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고유값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결측률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상위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 값을 요약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테이블 병합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pd.merge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pd.merge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(ratings, users), movies)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 테이블을 공통 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user_id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movie_id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병합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성별 평균 평점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pivot_table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영화별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성별 평균을 구합니다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평점이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250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 이상인 영화만 추출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정렬과 차이 분석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M – F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diff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컬럼을 만들고 정렬해서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남녀 선호가 크게 갈리는 영화를 추출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평점 표준편차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groupby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(＂title＂)[＂rating＂].std()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호불호가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갈리는 영화를 추출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장르 처리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＂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Action|Comedy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＂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같은 문자열을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str.split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(＂|＂)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리스트로 만들고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explode()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장르별 행으로 펼칩니다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get_dummies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핫 인코딩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장르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×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연령 평균 평점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장르를 펼친 데이터를 다시 병합한 뒤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groupby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(["genre", "age"]).mean().unstack("age")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교차표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생성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0892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B24AF-3735-942C-CF23-DE3EBFBCC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6103A8-9458-0E58-109E-F39FC070F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9</a:t>
            </a:fld>
            <a:endParaRPr lang="en-US" sz="1400" b="1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5D4BEF6-833B-A3A2-A7CA-1DE22548315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MovieLens 1M </a:t>
            </a:r>
            <a:r>
              <a:rPr lang="ko-KR" altLang="en-US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데이터셋</a:t>
            </a:r>
            <a:r>
              <a:rPr lang="en-US" altLang="ko-KR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(</a:t>
            </a:r>
            <a:r>
              <a:rPr lang="ko-KR" altLang="en-US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영화 평점</a:t>
            </a:r>
            <a:r>
              <a:rPr lang="en-US" altLang="ko-KR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r>
              <a:rPr lang="ko-KR" altLang="en-US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을</a:t>
            </a:r>
            <a:r>
              <a:rPr lang="en-US" altLang="ko-KR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merge()</a:t>
            </a:r>
            <a:r>
              <a:rPr lang="ko-KR" altLang="en-US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분석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79E9152-096B-4069-A9E1-3C42CA1491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814750"/>
              </p:ext>
            </p:extLst>
          </p:nvPr>
        </p:nvGraphicFramePr>
        <p:xfrm>
          <a:off x="1274603" y="1895034"/>
          <a:ext cx="10353762" cy="408096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925922">
                  <a:extLst>
                    <a:ext uri="{9D8B030D-6E8A-4147-A177-3AD203B41FA5}">
                      <a16:colId xmlns:a16="http://schemas.microsoft.com/office/drawing/2014/main" val="410514952"/>
                    </a:ext>
                  </a:extLst>
                </a:gridCol>
                <a:gridCol w="7427840">
                  <a:extLst>
                    <a:ext uri="{9D8B030D-6E8A-4147-A177-3AD203B41FA5}">
                      <a16:colId xmlns:a16="http://schemas.microsoft.com/office/drawing/2014/main" val="3380740008"/>
                    </a:ext>
                  </a:extLst>
                </a:gridCol>
              </a:tblGrid>
              <a:tr h="256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주제</a:t>
                      </a:r>
                    </a:p>
                  </a:txBody>
                  <a:tcPr marL="64166" marR="64166" marT="32083" marB="3208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핵심 함수</a:t>
                      </a:r>
                    </a:p>
                  </a:txBody>
                  <a:tcPr marL="64166" marR="64166" marT="32083" marB="3208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381562"/>
                  </a:ext>
                </a:extLst>
              </a:tr>
              <a:tr h="834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특수 </a:t>
                      </a:r>
                      <a:r>
                        <a:rPr lang="ko-KR" altLang="en-US" sz="16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구분자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파일 읽기</a:t>
                      </a:r>
                    </a:p>
                  </a:txBody>
                  <a:tcPr marL="64166" marR="64166" marT="32083" marB="3208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read_csv</a:t>
                      </a:r>
                      <a:r>
                        <a:rPr 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6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sep</a:t>
                      </a:r>
                      <a:r>
                        <a:rPr 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="::", names=..., engine="python")</a:t>
                      </a:r>
                    </a:p>
                  </a:txBody>
                  <a:tcPr marL="64166" marR="64166" marT="32083" marB="3208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8146596"/>
                  </a:ext>
                </a:extLst>
              </a:tr>
              <a:tr h="256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여러 테이블 결합</a:t>
                      </a:r>
                    </a:p>
                  </a:txBody>
                  <a:tcPr marL="64166" marR="64166" marT="32083" marB="3208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pd.merge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64166" marR="64166" marT="32083" marB="3208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4460975"/>
                  </a:ext>
                </a:extLst>
              </a:tr>
              <a:tr h="834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피벗 집계</a:t>
                      </a:r>
                    </a:p>
                  </a:txBody>
                  <a:tcPr marL="64166" marR="64166" marT="32083" marB="3208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pivot_table</a:t>
                      </a:r>
                      <a:r>
                        <a:rPr 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(values, index, columns, </a:t>
                      </a:r>
                      <a:r>
                        <a:rPr lang="en-US" sz="16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aggfunc</a:t>
                      </a:r>
                      <a:r>
                        <a:rPr 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64166" marR="64166" marT="32083" marB="3208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5743003"/>
                  </a:ext>
                </a:extLst>
              </a:tr>
              <a:tr h="449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조건 기반 필터링</a:t>
                      </a:r>
                    </a:p>
                  </a:txBody>
                  <a:tcPr marL="64166" marR="64166" marT="32083" marB="3208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groupby</a:t>
                      </a:r>
                      <a:r>
                        <a:rPr 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().size(), .loc[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조건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]</a:t>
                      </a:r>
                      <a:endParaRPr lang="ko-KR" alt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64166" marR="64166" marT="32083" marB="3208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125521"/>
                  </a:ext>
                </a:extLst>
              </a:tr>
              <a:tr h="449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새 컬럼 계산</a:t>
                      </a:r>
                      <a:r>
                        <a:rPr lang="en-US" altLang="ko-KR" sz="160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정렬</a:t>
                      </a:r>
                    </a:p>
                  </a:txBody>
                  <a:tcPr marL="64166" marR="64166" marT="32083" marB="3208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df["diff"] = ..., sort_values</a:t>
                      </a:r>
                    </a:p>
                  </a:txBody>
                  <a:tcPr marL="64166" marR="64166" marT="32083" marB="3208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6033375"/>
                  </a:ext>
                </a:extLst>
              </a:tr>
              <a:tr h="449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리스트형 컬럼 다루기</a:t>
                      </a:r>
                    </a:p>
                  </a:txBody>
                  <a:tcPr marL="64166" marR="64166" marT="32083" marB="3208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str.split</a:t>
                      </a:r>
                      <a:r>
                        <a:rPr 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explode, </a:t>
                      </a:r>
                      <a:r>
                        <a:rPr lang="en-US" sz="16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get_dummies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64166" marR="64166" marT="32083" marB="3208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5279057"/>
                  </a:ext>
                </a:extLst>
              </a:tr>
              <a:tr h="449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그룹별 통계와 형태 변환</a:t>
                      </a:r>
                    </a:p>
                  </a:txBody>
                  <a:tcPr marL="64166" marR="64166" marT="32083" marB="3208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groupby</a:t>
                      </a:r>
                      <a:r>
                        <a:rPr 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std, unstack</a:t>
                      </a:r>
                    </a:p>
                  </a:txBody>
                  <a:tcPr marL="64166" marR="64166" marT="32083" marB="3208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808679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9777655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13470</TotalTime>
  <Words>922</Words>
  <Application>Microsoft Office PowerPoint</Application>
  <PresentationFormat>와이드스크린</PresentationFormat>
  <Paragraphs>91</Paragraphs>
  <Slides>9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D2Coding</vt:lpstr>
      <vt:lpstr>맑은 고딕</vt:lpstr>
      <vt:lpstr>Batang</vt:lpstr>
      <vt:lpstr>Arial</vt:lpstr>
      <vt:lpstr>Wingdings</vt:lpstr>
      <vt:lpstr>WelcomeDoc</vt:lpstr>
      <vt:lpstr>Pandas Excercise</vt:lpstr>
      <vt:lpstr>PowerPoint 프레젠테이션</vt:lpstr>
      <vt:lpstr>Bitly Data from 1.USA.gov </vt:lpstr>
      <vt:lpstr>PowerPoint 프레젠테이션</vt:lpstr>
      <vt:lpstr>PowerPoint 프레젠테이션</vt:lpstr>
      <vt:lpstr>PowerPoint 프레젠테이션</vt:lpstr>
      <vt:lpstr>MovieLens 1M Dataset 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KBU</cp:lastModifiedBy>
  <cp:revision>200</cp:revision>
  <dcterms:created xsi:type="dcterms:W3CDTF">2026-04-06T01:00:39Z</dcterms:created>
  <dcterms:modified xsi:type="dcterms:W3CDTF">2026-10-30T01:59:02Z</dcterms:modified>
  <cp:version/>
</cp:coreProperties>
</file>